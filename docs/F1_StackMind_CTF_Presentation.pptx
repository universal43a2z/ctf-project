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051560"/>
            <a:ext cx="237744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Segoe UI"/>
              </a:rPr>
              <a:t>F1 STACKMIND</a:t>
            </a:r>
          </a:p>
          <a:p>
            <a:pPr algn="ctr"/>
            <a:r>
              <a:rPr sz="2600" b="1" i="0">
                <a:solidFill>
                  <a:srgbClr val="2BC4C3"/>
                </a:solidFill>
                <a:latin typeface="Segoe UI"/>
              </a:rPr>
              <a:t>Capture The Flag (CTF) Learn-to-Hack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0C0C8"/>
                </a:solidFill>
                <a:latin typeface="Segoe UI"/>
              </a:rPr>
              <a:t>Node.js · Express · EJS · Helmet · bcrypt · Cloudflare</a:t>
            </a:r>
          </a:p>
          <a:p>
            <a:pPr algn="ctr"/>
            <a:r>
              <a:rPr sz="1500" b="0" i="1">
                <a:solidFill>
                  <a:srgbClr val="8A90A0"/>
                </a:solidFill>
                <a:latin typeface="Segoe UI"/>
              </a:rPr>
              <a:t>A gamified cybersecurity training ground — solve cipher challenges, earn points, climb the leaderboard.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0A0"/>
                </a:solidFill>
                <a:latin typeface="Segoe UI"/>
              </a:rPr>
              <a:t>Presentation · Project Demo · Live at trycloudflare.com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BC4C3"/>
                </a:solidFill>
                <a:latin typeface="Segoe UI"/>
              </a:rPr>
              <a:t>WHY WE BUILT IT</a:t>
            </a:r>
          </a:p>
          <a:p>
            <a:r>
              <a:rPr sz="3400" b="1" i="0">
                <a:solidFill>
                  <a:srgbClr val="FFFFFF"/>
                </a:solidFill>
                <a:latin typeface="Segoe UI"/>
              </a:rPr>
              <a:t>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E94560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Hands-on security learning — </a:t>
            </a:r>
            <a:r>
              <a:rPr sz="1800" b="0" i="0">
                <a:solidFill>
                  <a:srgbClr val="C0C0C8"/>
                </a:solidFill>
                <a:latin typeface="Segoe UI"/>
              </a:rPr>
              <a:t>a safe, self-hosted CTF lab where beginners learn Data Encoding, OSINT, Log Analysis and Steganography by doing.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E94560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Gamified progression — </a:t>
            </a:r>
            <a:r>
              <a:rPr sz="1800" b="0" i="0">
                <a:solidFill>
                  <a:srgbClr val="C0C0C8"/>
                </a:solidFill>
                <a:latin typeface="Segoe UI"/>
              </a:rPr>
              <a:t>difficulty tiers (Easy / Medium / Hard), per-challenge points, solved tracking and a transparent two-way leaderboard.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E94560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Real defensive posture — </a:t>
            </a:r>
            <a:r>
              <a:rPr sz="1800" b="0" i="0">
                <a:solidFill>
                  <a:srgbClr val="C0C0C8"/>
                </a:solidFill>
                <a:latin typeface="Segoe UI"/>
              </a:rPr>
              <a:t>build a web app that practices the very security habits it teaches — CSRF, CSP, rate limiting, hashing, constant-time compares.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E94560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Clean modern UX — </a:t>
            </a:r>
            <a:r>
              <a:rPr sz="1800" b="0" i="0">
                <a:solidFill>
                  <a:srgbClr val="C0C0C8"/>
                </a:solidFill>
                <a:latin typeface="Segoe UI"/>
              </a:rPr>
              <a:t>branded landing experience with dark/light themes, fully responsive layouts, and an admin console.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BC4C3"/>
                </a:solidFill>
                <a:latin typeface="Segoe UI"/>
              </a:rPr>
              <a:t>FEATURE INVENTORY</a:t>
            </a:r>
          </a:p>
          <a:p>
            <a:r>
              <a:rPr sz="3400" b="1" i="0">
                <a:solidFill>
                  <a:srgbClr val="FFFFFF"/>
                </a:solidFill>
                <a:latin typeface="Segoe UI"/>
              </a:rPr>
              <a:t>38 Shipped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2697480" cy="44805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E94560"/>
                </a:solidFill>
                <a:latin typeface="Segoe UI"/>
              </a:rPr>
              <a:t>Player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2BC4C3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C0C0C8"/>
                </a:solidFill>
                <a:latin typeface="Segoe UI"/>
              </a:rPr>
              <a:t>Register with year level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2BC4C3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C0C0C8"/>
                </a:solidFill>
                <a:latin typeface="Segoe UI"/>
              </a:rPr>
              <a:t>Login / logout (secure session)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2BC4C3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C0C0C8"/>
                </a:solidFill>
                <a:latin typeface="Segoe UI"/>
              </a:rPr>
              <a:t>Dashboard stats &amp; mission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2BC4C3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C0C0C8"/>
                </a:solidFill>
                <a:latin typeface="Segoe UI"/>
              </a:rPr>
              <a:t>Recent flags feed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554480"/>
            <a:ext cx="2697480" cy="44805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783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E94560"/>
                </a:solidFill>
                <a:latin typeface="Segoe UI"/>
              </a:rPr>
              <a:t>Gameplay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33172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2BC4C3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C0C0C8"/>
                </a:solidFill>
                <a:latin typeface="Segoe UI"/>
              </a:rPr>
              <a:t>35 challenges · 3 tiers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2BC4C3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C0C0C8"/>
                </a:solidFill>
                <a:latin typeface="Segoe UI"/>
              </a:rPr>
              <a:t>Cipher files to download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2BC4C3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C0C0C8"/>
                </a:solidFill>
                <a:latin typeface="Segoe UI"/>
              </a:rPr>
              <a:t>Hints + resetable progress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2BC4C3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C0C0C8"/>
                </a:solidFill>
                <a:latin typeface="Segoe UI"/>
              </a:rPr>
              <a:t>Category filter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2BC4C3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C0C0C8"/>
                </a:solidFill>
                <a:latin typeface="Segoe UI"/>
              </a:rPr>
              <a:t>Score tracking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2697480" cy="44805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783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E94560"/>
                </a:solidFill>
                <a:latin typeface="Segoe UI"/>
              </a:rPr>
              <a:t>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3172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2BC4C3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C0C0C8"/>
                </a:solidFill>
                <a:latin typeface="Segoe UI"/>
              </a:rPr>
              <a:t>Protected admin console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2BC4C3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C0C0C8"/>
                </a:solidFill>
                <a:latin typeface="Segoe UI"/>
              </a:rPr>
              <a:t>ADMIN_KEY access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2BC4C3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C0C0C8"/>
                </a:solidFill>
                <a:latin typeface="Segoe UI"/>
              </a:rPr>
              <a:t>Accounts table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2BC4C3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C0C0C8"/>
                </a:solidFill>
                <a:latin typeface="Segoe UI"/>
              </a:rPr>
              <a:t>Leaderboard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554480"/>
            <a:ext cx="2697480" cy="44805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783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E94560"/>
                </a:solidFill>
                <a:latin typeface="Segoe UI"/>
              </a:rPr>
              <a:t>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33172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2BC4C3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C0C0C8"/>
                </a:solidFill>
                <a:latin typeface="Segoe UI"/>
              </a:rPr>
              <a:t>Dark/light theme toggle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2BC4C3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C0C0C8"/>
                </a:solidFill>
                <a:latin typeface="Segoe UI"/>
              </a:rPr>
              <a:t>Fully responsive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2BC4C3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C0C0C8"/>
                </a:solidFill>
                <a:latin typeface="Segoe UI"/>
              </a:rPr>
              <a:t>CSRF-protected forms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2BC4C3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C0C0C8"/>
                </a:solidFill>
                <a:latin typeface="Segoe UI"/>
              </a:rPr>
              <a:t>Rate limiting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2BC4C3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C0C0C8"/>
                </a:solidFill>
                <a:latin typeface="Segoe UI"/>
              </a:rPr>
              <a:t>CSP headers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BC4C3"/>
                </a:solidFill>
                <a:latin typeface="Segoe UI"/>
              </a:rPr>
              <a:t>BUILT WITH</a:t>
            </a:r>
          </a:p>
          <a:p>
            <a:r>
              <a:rPr sz="3400" b="1" i="0">
                <a:solidFill>
                  <a:srgbClr val="FFFFFF"/>
                </a:solidFill>
                <a:latin typeface="Segoe U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2BC4C3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Backend — </a:t>
            </a:r>
            <a:r>
              <a:rPr sz="1800" b="0" i="0">
                <a:solidFill>
                  <a:srgbClr val="C0C0C8"/>
                </a:solidFill>
                <a:latin typeface="Segoe UI"/>
              </a:rPr>
              <a:t>Node.js + Express 5 — lightweight server-side runtime and HTTP framework.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2BC4C3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Templating — </a:t>
            </a:r>
            <a:r>
              <a:rPr sz="1800" b="0" i="0">
                <a:solidFill>
                  <a:srgbClr val="C0C0C8"/>
                </a:solidFill>
                <a:latin typeface="Segoe UI"/>
              </a:rPr>
              <a:t>EJS — server-side render; flags never reach the browser.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2BC4C3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Auth &amp; session — </a:t>
            </a:r>
            <a:r>
              <a:rPr sz="1800" b="0" i="0">
                <a:solidFill>
                  <a:srgbClr val="C0C0C8"/>
                </a:solidFill>
                <a:latin typeface="Segoe UI"/>
              </a:rPr>
              <a:t>express-session (httpOnly cookie) + bcrypt password hashing.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2BC4C3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Security middleware — </a:t>
            </a:r>
            <a:r>
              <a:rPr sz="1800" b="0" i="0">
                <a:solidFill>
                  <a:srgbClr val="C0C0C8"/>
                </a:solidFill>
                <a:latin typeface="Segoe UI"/>
              </a:rPr>
              <a:t>helmet (CSP + headers), express-rate-limit, express-validator, CSRF tokens, constant-time flag comparison.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2BC4C3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Data layer — </a:t>
            </a:r>
            <a:r>
              <a:rPr sz="1800" b="0" i="0">
                <a:solidFill>
                  <a:srgbClr val="C0C0C8"/>
                </a:solidFill>
                <a:latin typeface="Segoe UI"/>
              </a:rPr>
              <a:t>JSON file stores (data.json users · ctf-challenges.js catalog) — zero external DB.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6908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2BC4C3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Frontend &amp; deploy — </a:t>
            </a:r>
            <a:r>
              <a:rPr sz="1800" b="0" i="0">
                <a:solidFill>
                  <a:srgbClr val="C0C0C8"/>
                </a:solidFill>
                <a:latin typeface="Segoe UI"/>
              </a:rPr>
              <a:t>Vanilla CSS (CSS variables, dual themes) + ES5 JS (theme.js) + Cloudflare tunnel for the live link.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BC4C3"/>
                </a:solidFill>
                <a:latin typeface="Segoe UI"/>
              </a:rPr>
              <a:t>ARCHITECTURE</a:t>
            </a:r>
          </a:p>
          <a:p>
            <a:r>
              <a:rPr sz="3400" b="1" i="0">
                <a:solidFill>
                  <a:srgbClr val="FFFFFF"/>
                </a:solidFill>
                <a:latin typeface="Segoe UI"/>
              </a:rPr>
              <a:t>Request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1600200" cy="64008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2996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Request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920240"/>
            <a:ext cx="1600200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02996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C0C0C8"/>
                </a:solidFill>
                <a:latin typeface="Segoe UI"/>
              </a:rPr>
              <a:t>helmet · rate-limit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920240"/>
            <a:ext cx="1600200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2996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C0C0C8"/>
                </a:solidFill>
                <a:latin typeface="Segoe UI"/>
              </a:rPr>
              <a:t>session · CSRF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920240"/>
            <a:ext cx="1920240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299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C0C0C8"/>
                </a:solidFill>
                <a:latin typeface="Segoe UI"/>
              </a:rPr>
              <a:t>Route handler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3960" y="1920240"/>
            <a:ext cx="1600200" cy="64008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02996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EJS render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017520"/>
            <a:ext cx="10515600" cy="2926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200400"/>
            <a:ext cx="9966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▸ Route map — </a:t>
            </a:r>
            <a:r>
              <a:rPr sz="1500" b="0" i="0">
                <a:solidFill>
                  <a:srgbClr val="C0C0C8"/>
                </a:solidFill>
                <a:latin typeface="Segoe UI"/>
              </a:rPr>
              <a:t>/dashboard · /ctf · /ctf/:id · /ctf/:id/download · /admin — gated by requireAuth / admin key.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▸ Flag submission — </a:t>
            </a:r>
            <a:r>
              <a:rPr sz="1500" b="0" i="0">
                <a:solidFill>
                  <a:srgbClr val="C0C0C8"/>
                </a:solidFill>
                <a:latin typeface="Segoe UI"/>
              </a:rPr>
              <a:t>POST → trim+lowercase → constant-time compare → solved? points += → persist, rerender.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▸ Data flow — </a:t>
            </a:r>
            <a:r>
              <a:rPr sz="1500" b="0" i="0">
                <a:solidFill>
                  <a:srgbClr val="C0C0C8"/>
                </a:solidFill>
                <a:latin typeface="Segoe UI"/>
              </a:rPr>
              <a:t>data.json → users (bcrypt, solved[], score); catalog → getById(); dashboard maps solves via ctf.getById().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▸ Security note — </a:t>
            </a:r>
            <a:r>
              <a:rPr sz="1500" b="0" i="0">
                <a:solidFill>
                  <a:srgbClr val="C0C0C8"/>
                </a:solidFill>
                <a:latin typeface="Segoe UI"/>
              </a:rPr>
              <a:t>Flags are server-side only — never in rendered HTML, never exposed as JSON.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BC4C3"/>
                </a:solidFill>
                <a:latin typeface="Segoe UI"/>
              </a:rPr>
              <a:t>WHAT PLAYERS SOLVE</a:t>
            </a:r>
          </a:p>
          <a:p>
            <a:r>
              <a:rPr sz="3400" b="1" i="0">
                <a:solidFill>
                  <a:srgbClr val="FFFFFF"/>
                </a:solidFill>
                <a:latin typeface="Segoe UI"/>
              </a:rPr>
              <a:t>Challenge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E94560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35 puzzles · 3 tiers — </a:t>
            </a:r>
            <a:r>
              <a:rPr sz="1800" b="0" i="0">
                <a:solidFill>
                  <a:srgbClr val="C0C0C8"/>
                </a:solidFill>
                <a:latin typeface="Segoe UI"/>
              </a:rPr>
              <a:t>Easy → Medium → Hard across categories: General Skills, Web, Forensics, Cryptography, OSINT, Steganography.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E94560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Real techniques — </a:t>
            </a:r>
            <a:r>
              <a:rPr sz="1800" b="0" i="0">
                <a:solidFill>
                  <a:srgbClr val="C0C0C8"/>
                </a:solidFill>
                <a:latin typeface="Segoe UI"/>
              </a:rPr>
              <a:t>base64, hex, binary, Caesar/Rot13/Rot47, Vigenère, Morse, XOR, grep/awk, DNA &amp; EXIF metadata, hash-sniffing, low-bit pixel stego.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E94560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Interactive — </a:t>
            </a:r>
            <a:r>
              <a:rPr sz="1800" b="0" i="0">
                <a:solidFill>
                  <a:srgbClr val="C0C0C8"/>
                </a:solidFill>
                <a:latin typeface="Segoe UI"/>
              </a:rPr>
              <a:t>downloadable cipher files (challenge-files/), hints on demand, per-challenge points (difficulty-scaled).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E94560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Score-driven — </a:t>
            </a:r>
            <a:r>
              <a:rPr sz="1800" b="0" i="0">
                <a:solidFill>
                  <a:srgbClr val="C0C0C8"/>
                </a:solidFill>
                <a:latin typeface="Segoe UI"/>
              </a:rPr>
              <a:t>solved-state tracking, running totals, challenge progress bar, admin leaderboard.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BC4C3"/>
                </a:solidFill>
                <a:latin typeface="Segoe UI"/>
              </a:rPr>
              <a:t>EAT YOUR OWN DOG FOOD</a:t>
            </a:r>
          </a:p>
          <a:p>
            <a:r>
              <a:rPr sz="3400" b="1" i="0">
                <a:solidFill>
                  <a:srgbClr val="FFFFFF"/>
                </a:solidFill>
                <a:latin typeface="Segoe UI"/>
              </a:rPr>
              <a:t>Security &amp;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4CAF50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Headers — </a:t>
            </a:r>
            <a:r>
              <a:rPr sz="1800" b="0" i="0">
                <a:solidFill>
                  <a:srgbClr val="C0C0C8"/>
                </a:solidFill>
                <a:latin typeface="Segoe UI"/>
              </a:rPr>
              <a:t>helmet defaults + strict CSP: inline scripts blocked — theme.js must use addEventListener.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4CAF50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Input &amp; auth — </a:t>
            </a:r>
            <a:r>
              <a:rPr sz="1800" b="0" i="0">
                <a:solidFill>
                  <a:srgbClr val="C0C0C8"/>
                </a:solidFill>
                <a:latin typeface="Segoe UI"/>
              </a:rPr>
              <a:t>express-validator, bcrypt hashes, httpOnly session cookie, rate limiters on login/auth/admin.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4CAF50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CSRF — </a:t>
            </a:r>
            <a:r>
              <a:rPr sz="1800" b="0" i="0">
                <a:solidFill>
                  <a:srgbClr val="C0C0C8"/>
                </a:solidFill>
                <a:latin typeface="Segoe UI"/>
              </a:rPr>
              <a:t>every state-changing form (login, register, logout, flags, admin) carries a per-session token.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4CAF50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Timing-safe &amp; scoped — </a:t>
            </a:r>
            <a:r>
              <a:rPr sz="1800" b="0" i="0">
                <a:solidFill>
                  <a:srgbClr val="C0C0C8"/>
                </a:solidFill>
                <a:latin typeface="Segoe UI"/>
              </a:rPr>
              <a:t>constant-time flag comparison prevents length/content oracle leaks; flags never rendered client-side.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4CAF50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Least privilege — </a:t>
            </a:r>
            <a:r>
              <a:rPr sz="1800" b="0" i="0">
                <a:solidFill>
                  <a:srgbClr val="C0C0C8"/>
                </a:solidFill>
                <a:latin typeface="Segoe UI"/>
              </a:rPr>
              <a:t>requireAuth guards protected pages; single admin key override via env (ADMIN_KEY).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BC4C3"/>
                </a:solidFill>
                <a:latin typeface="Segoe UI"/>
              </a:rPr>
              <a:t>USER EXPERIENCE</a:t>
            </a:r>
          </a:p>
          <a:p>
            <a:r>
              <a:rPr sz="3400" b="1" i="0">
                <a:solidFill>
                  <a:srgbClr val="FFFFFF"/>
                </a:solidFill>
                <a:latin typeface="Segoe UI"/>
              </a:rPr>
              <a:t>Design &amp; Theming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303520" cy="21488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01368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E94560"/>
                </a:solidFill>
                <a:latin typeface="Segoe UI"/>
              </a:rPr>
              <a:t>▸ Branded login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0C0C8"/>
                </a:solidFill>
                <a:latin typeface="Segoe UI"/>
              </a:rPr>
              <a:t>Hero landing with F1 STACKMIND logo, geometric background circles and a rounded glass card — following the app theme, not the original teal.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00200"/>
            <a:ext cx="5303520" cy="21488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801368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E94560"/>
                </a:solidFill>
                <a:latin typeface="Segoe UI"/>
              </a:rPr>
              <a:t>▸ Dual themes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0C0C8"/>
                </a:solidFill>
                <a:latin typeface="Segoe UI"/>
              </a:rPr>
              <a:t>CSS variables power dark/light; persisted in localStorage; one-click toggle everywhere, CSP-safe via addEventListener.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977640"/>
            <a:ext cx="5303520" cy="21488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178808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E94560"/>
                </a:solidFill>
                <a:latin typeface="Segoe UI"/>
              </a:rPr>
              <a:t>▸ Responsive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0C0C8"/>
                </a:solidFill>
                <a:latin typeface="Segoe UI"/>
              </a:rPr>
              <a:t>Fluid clamp() sizing edge-to-edge on every page; mobile layouts for board, challenge, admin tables and forms.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977640"/>
            <a:ext cx="5303520" cy="21488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4178808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E94560"/>
                </a:solidFill>
                <a:latin typeface="Segoe UI"/>
              </a:rPr>
              <a:t>▸ Consistent system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C0C0C8"/>
                </a:solidFill>
                <a:latin typeface="Segoe UI"/>
              </a:rPr>
              <a:t>Shared card/button/badge system, per-difficulty color coding, success/error alerts, dashboard mission panel.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BC4C3"/>
                </a:solidFill>
                <a:latin typeface="Segoe UI"/>
              </a:rPr>
              <a:t>HOW IT RUNS</a:t>
            </a:r>
          </a:p>
          <a:p>
            <a:r>
              <a:rPr sz="3400" b="1" i="0">
                <a:solidFill>
                  <a:srgbClr val="FFFFFF"/>
                </a:solidFill>
                <a:latin typeface="Segoe UI"/>
              </a:rPr>
              <a:t>Deployment &amp;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E94560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Local server — </a:t>
            </a:r>
            <a:r>
              <a:rPr sz="1800" b="0" i="0">
                <a:solidFill>
                  <a:srgbClr val="C0C0C8"/>
                </a:solidFill>
                <a:latin typeface="Segoe UI"/>
              </a:rPr>
              <a:t>node server.js on localhost:3000 — plain Node, no build step; static/views hot-reload.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E94560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Live tunnel — </a:t>
            </a:r>
            <a:r>
              <a:rPr sz="1800" b="0" i="0">
                <a:solidFill>
                  <a:srgbClr val="C0C0C8"/>
                </a:solidFill>
                <a:latin typeface="Segoe UI"/>
              </a:rPr>
              <a:t>Cloudflare quick tunnel publishes the app to a public https URL in seconds (no domain required).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E94560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Demo link — </a:t>
            </a:r>
            <a:r>
              <a:rPr sz="1800" b="0" i="0">
                <a:solidFill>
                  <a:srgbClr val="C0C0C8"/>
                </a:solidFill>
                <a:latin typeface="Segoe UI"/>
              </a:rPr>
              <a:t>…trycloudflare.com — open /login to register, /ctf to play, /admin with the admin key.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E94560"/>
                </a:solidFill>
                <a:latin typeface="Segoe UI"/>
              </a:rPr>
              <a:t>▸ 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Scaling path — </a:t>
            </a:r>
            <a:r>
              <a:rPr sz="1800" b="0" i="0">
                <a:solidFill>
                  <a:srgbClr val="C0C0C8"/>
                </a:solidFill>
                <a:latin typeface="Segoe UI"/>
              </a:rPr>
              <a:t>swap JSON store for Postgres, add Cloudflare named tunnel + own domain, or deploy to Render / Railway.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BC4C3"/>
                </a:solidFill>
                <a:latin typeface="Segoe UI"/>
              </a:rPr>
              <a:t>F1 STACKMIND — Learn to hack the right way.</a:t>
            </a:r>
          </a:p>
          <a:p>
            <a:pPr algn="ctr"/>
            <a:r>
              <a:rPr sz="1600" b="0" i="0">
                <a:solidFill>
                  <a:srgbClr val="8A90A0"/>
                </a:solidFill>
                <a:latin typeface="Segoe UI"/>
              </a:rPr>
              <a:t>CTF Platform · 35 challenges · 38 features · 2 themes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